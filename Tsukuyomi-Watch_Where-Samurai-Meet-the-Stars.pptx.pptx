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89" autoAdjust="0"/>
    <p:restoredTop sz="94610"/>
  </p:normalViewPr>
  <p:slideViewPr>
    <p:cSldViewPr snapToGrid="0" snapToObjects="1">
      <p:cViewPr>
        <p:scale>
          <a:sx n="82" d="100"/>
          <a:sy n="82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8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A2A4-D691-493F-AC40-377CD8FBE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7CB1D-0BB2-D486-269D-E8E111486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45E6C-09EE-B32F-A25F-4737D1BFE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45F6D-C2BE-1A14-7C3D-B65891A43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5055D-BC5D-4344-B45B-63373F32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900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378EB-5FDB-32E9-D831-1C23AD89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677AE-4664-AB22-0BF4-3671DD0E3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98C15-3B0C-D33E-0059-CA7DF5E7D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A473C-E3AC-F60E-B554-B0470443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AFDC5-CB2C-E054-76B1-B3BA2ED7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15173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C52E-2D48-35C8-B805-6EE539184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062ED-AA48-188E-56FB-0A64008BE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A3655-C902-3EFC-944E-3EDADE9F6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ADF44-88D3-5AA0-0EA5-BE5A0E8D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3B914-0E2D-53F2-1791-3CC5041B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6994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1A18-7E8C-5F10-1530-4085912C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7A448-05A9-1FA6-AFA5-74AF549FF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DAAF3-5F1B-DEF3-F622-027D1DE84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FD68E-1110-E122-1446-651EEA0E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7E30A-5C6F-2C68-3B50-24C545BE5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9F05E-A050-AEEC-5B06-18A562BD9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8210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4A16-1D04-67C2-53D7-CD08EC50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DA0B5-AA34-8560-33FE-D2A3943B6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290A5-775E-636A-099A-CC6CB29CD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C418F5-69F7-9E3E-9D23-A6561E8AF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213C7-FB45-3448-7576-EF872A65F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15D4C-4735-E510-2415-1C4D40287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4750F6-8192-8353-6886-E09712C58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A5F88-8D41-1EF2-E05C-21B28E49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8227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C308-5725-28D7-0B2B-8563AE7D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054C79-2631-898A-CB62-671A0496F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98685-76F3-6F1F-06DD-66EDC9AF7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1BE22-C399-09BB-40CC-934561E7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8905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DCB091-4831-90C4-28AE-46636859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C1BD7-2198-0989-6624-0366E645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1B1E1-CD72-4DF5-56AE-7A0250E3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4049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1B15-40E8-C03B-5E5E-D7932709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D9787-0472-1855-7C88-A74E59179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0451A-BB3C-B8F6-516B-C9E6E6139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97CAC-1AD1-B748-720C-BBD2C839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69FF4-C64E-1F3A-FF6D-A0CD6FEB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4E2A2-6212-AF12-69D1-F182F173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31787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422D-8AB1-CE46-E730-6D1088FB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A22E6F-59A6-1194-82F8-46780FF5A3D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45665-D1B4-8AB6-539A-A572018CC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AD1C0-6E0B-5210-448E-78DAF9D5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2FB19-0195-E0C5-A75D-37FF5691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DDFB1-07FA-D254-3B08-EE20C205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1210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D154A-862C-D5B9-4818-14233E561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2E500-0D79-CBF7-8C8B-3F30EE6D4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AD52E-328B-46BA-7791-AC288E2AD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AE465-B67D-B361-F177-8DEDCD7D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60795-50A9-7AAD-0CBA-A91463EC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6331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38EFD-3FD9-23CC-B77D-3C3B2630A6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D92F6-C363-2D77-20F3-48E38E764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78EE3-A6ED-8274-3DEA-F7771CBC2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7085B-ECEA-AE6F-1DED-ABA636CD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9FE28-E12B-732A-4EDD-6F1B6D2A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7447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81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25C41-7EAC-4D34-A10D-4EEEE99E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AFD2B-28CE-F7B4-128A-F115E1A3B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DCF6A-D852-0409-110C-203EF0422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E9A1E-A1CF-7377-358D-6D221D08C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18B92-2B11-435A-BC12-718566EDE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58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82296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50292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37160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100584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201168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73152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237744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0" y="45720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7120" y="301752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356616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02336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28600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356616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822960"/>
            <a:ext cx="36576" cy="36576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PECATHON 2026   /   OFFICIAL SUBMISSION DECK   /   TOP 40 QUALIFIER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100584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TSUKUYOMI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9D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月読見張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108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Samurai's Celestial Guide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5661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Stargazing Intelligence, Live Stellarium Sky, Orbital Ephemeris &amp; Faithful AI Astro-Restoration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4434840"/>
            <a:ext cx="10881360" cy="0"/>
          </a:xfrm>
          <a:prstGeom prst="line">
            <a:avLst/>
          </a:prstGeom>
          <a:noFill/>
          <a:ln w="25400">
            <a:solidFill>
              <a:srgbClr val="12121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4348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 ID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44348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PS-002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89320" y="44348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 TITLE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818120" y="44348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Tsukuyomi Watch: The Samurai's Celestial Guide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5001768"/>
            <a:ext cx="10881360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5001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/ DOMAIN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2377440" y="500176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Technology, Astronomy, Scientific AI &amp; Geo-Telemetry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989320" y="5001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 CATEGORY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7818120" y="500176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(Full-Stack Web Platform &amp; Deconvolution Engine)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5568696"/>
            <a:ext cx="10881360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556869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ID / NAME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2377440" y="55686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PF-KV5WKX |  The roadsters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556869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&amp; LIVE PROTOTYPE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7818120" y="55686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Full-Stack Prototype Ready (Express + React 19 + Sharp + SGP4 + Stellarium Web) [https://team-pf-kv5wkx.onrender.com/]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6135624"/>
            <a:ext cx="10881360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4434840"/>
            <a:ext cx="0" cy="1700784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26680" y="4434840"/>
            <a:ext cx="0" cy="1700784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88575" y="6400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9D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月読見張</a:t>
            </a:r>
            <a:endParaRPr lang="en-US" sz="8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8C9E529-49BD-9B78-E455-D562B2B08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830961"/>
            <a:ext cx="4358640" cy="2451735"/>
          </a:xfrm>
          <a:prstGeom prst="rect">
            <a:avLst/>
          </a:prstGeom>
        </p:spPr>
      </p:pic>
      <p:pic>
        <p:nvPicPr>
          <p:cNvPr id="24" name="Picture 23" descr="Hand drawn hieroglyph translates samurai japanese samurai ...">
            <a:extLst>
              <a:ext uri="{FF2B5EF4-FFF2-40B4-BE49-F238E27FC236}">
                <a16:creationId xmlns:a16="http://schemas.microsoft.com/office/drawing/2014/main" id="{F4B2514A-C7F8-9A09-28E7-1661F2BB8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4346" y="24640"/>
            <a:ext cx="697654" cy="4803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TSUKUYOMI WATCH     /     IDEA OVERVIEW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9905695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Problem, solution &amp; core differentiators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Addressing real-world observational bottlenecks with physics-grounded AI, live topocentric telemetry &amp; an interactive Stellarium sky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PECATHON 2026  •  OFFICIAL SUBMISSION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248095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月読見張   •   THE SAMURAI'S CELESTIAL GUIDE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5454396" cy="2606040"/>
          </a:xfrm>
          <a:prstGeom prst="roundRect">
            <a:avLst>
              <a:gd name="adj" fmla="val 771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1600200"/>
            <a:ext cx="5180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THE REAL-WORLD PROBLEM (STORY &amp; BOTTLENECKS)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1965960"/>
            <a:ext cx="518007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Fragmented Night-Sky Intelligence: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Stargazers juggle 4+ separate tools for cloud cover, particulate AQI haze, lunar glare, and dark-sky topography.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Inaccurate Event Tracking: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calendars list global meteor/ISS events without computing topocentric solar depression or local horizon visibility.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AI Hallucination in Astrophotography: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generative AI enhancers invent fake stars and nebulae, destroying scientific and photometric truth.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High Barrier to Entry: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telescope captures (Hubble/JWST/ground) are obscured by Poisson sensor noise and atmospheric PSF blur.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No Sky Context: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Knowing a site is dark is not enough — observers cannot preview what will actually be overhead at that place and time.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277356" y="1508760"/>
            <a:ext cx="5454396" cy="2606040"/>
          </a:xfrm>
          <a:prstGeom prst="roundRect">
            <a:avLst>
              <a:gd name="adj" fmla="val 771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14516" y="1600200"/>
            <a:ext cx="5180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PROPOSED SOLUTION: TSUKUYOMI WATCH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14516" y="1965960"/>
            <a:ext cx="518007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The Watchtower (Spot Finder):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Computes a unified 0-100 'Night Honor Score' fusing Open-Meteo cloud cover, visibility, humidity, and US AQI particulate haze on an Edo scroll map.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The Celestial Scroll (Event Tracker):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SGP4 orbital propagation (NORAD 25544) for visible ISS passes + US Naval Observatory (USNO) &amp; SunCalc lunar ephemeris with horizon alerts.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</a:t>
            </a:r>
            <a:r>
              <a:rPr lang="en-US" sz="880" b="1" dirty="0">
                <a:solidFill>
                  <a:srgbClr val="121212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The Star Gazer (Stellarium Sky): </a:t>
            </a:r>
            <a:r>
              <a:rPr lang="en-US" sz="880" dirty="0">
                <a:solidFill>
                  <a:srgbClr val="414141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Embedded Stellarium Web planetarium opened at the exact location, date &amp; field of view of any spot or event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The Spirit Lens (Faithful AI Restoration):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Non-hallucinatory Wavelet/NLM denoising + Richardson-Lucy PSF deconvolution with automated DAOStarFinder/SEP star &amp; galaxy cataloging.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The Dojo Dashboard: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before/after split comparator, deep zoom, and astrometric overlays.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6949440" cy="201168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94360" y="438912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CORE DIFFERENTIATORS (USPs vs. 500+ OTHER SUBMISSIONS)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754880"/>
            <a:ext cx="66751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Zero-Hallucination Photometric Guarantee: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Unlike LLM/diffusion wrappers that fabricate stars, our Richardson-Lucy deconvolution strictly recovers optical point-spread signals, with flux-conservation and object-count checks reported per restoration.</a:t>
            </a:r>
            <a:endParaRPr lang="en-US" sz="8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3-Tier Resilient Orbital &amp; Geo Fallbacks: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failover across 3 TLE mirrors (wheretheiss.at -&gt; CelesTrak -&gt; IvanStanojevic) and Overpass -&gt; Curated Shivalik Sanctuaries.</a:t>
            </a:r>
            <a:endParaRPr lang="en-US" sz="8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One Observer, Every Module: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Watchtower spots and Scroll events deep-link (lat, lng, date) into the Star Gazer, and one saved observer location is shared across pages.</a:t>
            </a:r>
            <a:endParaRPr lang="en-US" sz="8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Live Local Sidereal Time (LST) D3 Dome: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stereographic sky projection with Edo-period samurai star lore (Hokuto Shichisei, Subaru).</a:t>
            </a:r>
            <a:endParaRPr lang="en-US" sz="8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Sensory &amp; Accessible Craft: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Procedural Web Audio Koto/Suzu synthesis paired with a 1-click WCAG 'Calm Mode' that disables animations and glows.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772400" y="4297680"/>
            <a:ext cx="3959352" cy="201168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909560" y="4389120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KEY VALUE PROPOSITIONS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4754880"/>
            <a:ext cx="368503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Photometrically Faithful: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Flux-conserving restoration that adds no new objects.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Zero-API-Key Core: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out-of-the-box using open scientific endpoints.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Offline-Ready Persistence: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IndexedDB caching (`imageStore.ts`) preserves restorations.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Sub-Second Ephemeris: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In-memory TTL caching (15m weather, 3h TLE) prevents rate-limiting during live demos.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Gamified Observation: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Honor Points &amp; ranks (Ashigaru to Shogun) reward real sky-watching.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31920" y="4142232"/>
            <a:ext cx="0" cy="128016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56648" y="4142232"/>
            <a:ext cx="0" cy="128016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pic>
        <p:nvPicPr>
          <p:cNvPr id="26" name="Picture 25" descr="Hand drawn hieroglyph translates samurai japanese samurai ...">
            <a:extLst>
              <a:ext uri="{FF2B5EF4-FFF2-40B4-BE49-F238E27FC236}">
                <a16:creationId xmlns:a16="http://schemas.microsoft.com/office/drawing/2014/main" id="{4BF0E031-D518-57EB-7C07-D63E6E22B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337" y="427577"/>
            <a:ext cx="672871" cy="4632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TSUKUYOMI WATCH     /     TECHNICAL APPROACH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9905695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 &amp; process flow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layered architecture, scientific deconvolution / ephemeris pipeline &amp; Stellarium sky-view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PECATHON 2026  •  OFFICIAL SUBMISSION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248095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月読見張   •   THE SAMURAI'S CELESTIAL GUIDE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2558034" cy="2148840"/>
          </a:xfrm>
          <a:prstGeom prst="roundRect">
            <a:avLst>
              <a:gd name="adj" fmla="val 9362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1600200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CLIENT UI LAYER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1929384"/>
            <a:ext cx="228371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React 19 + TypeScript SPA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Watchtower (Leaflet Scroll Map)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D3.js Stereographic Sky Dome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Celestial Scroll (Lunar/ISS UI)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Star Gazer (Stellarium Web frame)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Spirit Lens &amp; Dojo Comparator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IndexedDB (`imageStore.ts`)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051810" y="2583180"/>
            <a:ext cx="274320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62706" y="1508760"/>
            <a:ext cx="2558034" cy="2148840"/>
          </a:xfrm>
          <a:prstGeom prst="roundRect">
            <a:avLst>
              <a:gd name="adj" fmla="val 9362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99866" y="1600200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EXPRESS API GATEWAY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499866" y="1929384"/>
            <a:ext cx="228371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Node.js + Express (`server.ts`)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In-Memory TTL Caching Layer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Multer 25MB Buffer Ingestion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60s Deconvolution Watchdog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Graceful Stale-Cache Failover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REST JSON Telemetry Routes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957316" y="2583180"/>
            <a:ext cx="274320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68212" y="1508760"/>
            <a:ext cx="2558034" cy="2148840"/>
          </a:xfrm>
          <a:prstGeom prst="roundRect">
            <a:avLst>
              <a:gd name="adj" fmla="val 9362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5372" y="1600200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SCIENTIFIC &amp; AI ENGINES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5372" y="1929384"/>
            <a:ext cx="228371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SGP4 Propagator (`satellite.js`)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Topocentric Horizon (`suncalc`)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Wavelet / NLM Denoising Engine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Richardson-Lucy Deconvolution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DAOStarFinder / SEP Contour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Night Honor Score Calculator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Stellarium URL Builder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862822" y="2583180"/>
            <a:ext cx="274320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73718" y="1508760"/>
            <a:ext cx="2558034" cy="2148840"/>
          </a:xfrm>
          <a:prstGeom prst="roundRect">
            <a:avLst>
              <a:gd name="adj" fmla="val 9362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310878" y="1600200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EXTERNAL DATA MIRRORS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310878" y="1929384"/>
            <a:ext cx="228371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Open-Meteo Weather &amp; US AQI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US Naval Observatory (USNO)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WhereTheISS / CelesTrak TLEs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OSM Overpass + Nominatim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Stellarium Web (stellarium-web.org)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NASA/ESA STScI Sample Archive</a:t>
            </a:r>
            <a:endParaRPr lang="en-US" sz="88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Curated Shivalik Sanctuaries</a:t>
            </a:r>
            <a:endParaRPr lang="en-US" sz="88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7490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A  /  SPIRIT LENS &amp; DOJO ASTROPHOTOGRAPHY PIPELINE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2035454" cy="9144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5875">
            <a:solidFill>
              <a:srgbClr val="3E7D7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48640" y="4078224"/>
            <a:ext cx="18525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INGEST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raw space image (or NASA Hubble/JWST preset) via Multer memory buffer &amp; normalize via Sharp.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20086" y="4480560"/>
            <a:ext cx="21945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766974" y="4023360"/>
            <a:ext cx="2035454" cy="9144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5875">
            <a:solidFill>
              <a:srgbClr val="5B7797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2858414" y="4078224"/>
            <a:ext cx="18525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DENOISE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multi-scale Wavelet &amp; Non-Local Means (NLM) filtering to suppress Poisson &amp; read noise.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29861" y="4480560"/>
            <a:ext cx="21945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076749" y="4023360"/>
            <a:ext cx="2035454" cy="9144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5875">
            <a:solidFill>
              <a:srgbClr val="708B74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168189" y="4078224"/>
            <a:ext cx="18525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DECONVOLVE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Iterative Richardson-Lucy PSF deconvolution sharpens optical blur without hallucinating stars.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139635" y="4480560"/>
            <a:ext cx="21945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86523" y="4023360"/>
            <a:ext cx="2035454" cy="9144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5875">
            <a:solidFill>
              <a:srgbClr val="8B7796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477963" y="4078224"/>
            <a:ext cx="18525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8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4: CATALOG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DAOStarFinder &amp; SEP contour extraction detects stars/galaxies, computing flux, FWHM &amp; centroids.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449410" y="4480560"/>
            <a:ext cx="21945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96298" y="4023360"/>
            <a:ext cx="2035454" cy="9144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5875">
            <a:solidFill>
              <a:srgbClr val="DC9D5E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787738" y="4078224"/>
            <a:ext cx="18525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5: DOJO UI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to IndexedDB; render interactive before/after slider with clickable astrometric overlays.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5047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B  /  STAR GAZER &amp; STELLARIUM SKY-VIEW FLOW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5321808"/>
            <a:ext cx="2035454" cy="9144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5875">
            <a:solidFill>
              <a:srgbClr val="3E7D7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548640" y="5376672"/>
            <a:ext cx="18525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PICK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site from a Watchtower spot, a Scroll event, place search or GPS.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20086" y="5779008"/>
            <a:ext cx="21945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766974" y="5321808"/>
            <a:ext cx="2035454" cy="9144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5875">
            <a:solidFill>
              <a:srgbClr val="5B7797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2858414" y="5376672"/>
            <a:ext cx="18525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SYNC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the observer location; the deep link passes lat, lng &amp; date to `/stargazer`.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29861" y="5779008"/>
            <a:ext cx="21945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076749" y="5321808"/>
            <a:ext cx="2035454" cy="9144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5875">
            <a:solidFill>
              <a:srgbClr val="708B74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5168189" y="5376672"/>
            <a:ext cx="18525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RENDER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Stellarium Web URL (lat, lng, date, fov, elev, az, alt) and load the embedded WebGL sky.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139635" y="5779008"/>
            <a:ext cx="21945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386523" y="5321808"/>
            <a:ext cx="2035454" cy="9144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5875">
            <a:solidFill>
              <a:srgbClr val="8B7796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7477963" y="5376672"/>
            <a:ext cx="18525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8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4: FALLBACK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frame is blocked or slow, switch to Fallback Card View or launch Stellarium Web externally.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449410" y="5779008"/>
            <a:ext cx="21945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696298" y="5321808"/>
            <a:ext cx="2035454" cy="914400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 w="15875">
            <a:solidFill>
              <a:srgbClr val="DC9D5E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9787738" y="5376672"/>
            <a:ext cx="18525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5: REWARD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the Star Gazer earns 100 Honor Points once per day (Night Vigil).</a:t>
            </a:r>
            <a:endParaRPr lang="en-US" sz="950" dirty="0"/>
          </a:p>
        </p:txBody>
      </p:sp>
      <p:pic>
        <p:nvPicPr>
          <p:cNvPr id="57" name="Picture 56" descr="Hand drawn hieroglyph translates samurai japanese samurai ...">
            <a:extLst>
              <a:ext uri="{FF2B5EF4-FFF2-40B4-BE49-F238E27FC236}">
                <a16:creationId xmlns:a16="http://schemas.microsoft.com/office/drawing/2014/main" id="{AFFFB456-6AFB-B682-9844-FA3709D5D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11215395" y="391442"/>
            <a:ext cx="616015" cy="424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TSUKUYOMI WATCH     /     TECHNICAL APPROACH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9905695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363894" y="4754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tech stack &amp; mathematical models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authentic dependencies from package.json — zero buzzwords, pure scientific 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PECATHON 2026  •  OFFICIAL SUBMISSION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248095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月読見張   •   THE SAMURAI'S CELESTIAL GUIDE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544824" cy="25146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160020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&amp; VISUALIZATION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1965960"/>
            <a:ext cx="327050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React 19.0.1 + TypeScript 7.0: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typed component architecture with React Router v7 (`react-router-dom`).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D3.js v7.9.0 (`d3`):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stereographic celestial dome projection with real-time Local Sidereal Time (LST).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Leaflet v1.9.4 (`leaflet`):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CSS sepia/invert parchment scroll cartography &amp; sanctuary markers.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Stellarium Web (`stellarium-web.org`):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WebGL planetarium driven by URL parameters `lat`, `lng`, `date`, `fov`, `elev`, `az`, `alt`.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Tailwind CSS v4.3 + Motion v12: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Cyber-mystic glassmorphism, HUD reticles &amp; WCAG Calm Mode (`data-calm`).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22064" y="1508760"/>
            <a:ext cx="3544824" cy="25146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59224" y="160020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&amp; SCIENTIFIC CORE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59224" y="1965960"/>
            <a:ext cx="327050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Node.js + Express v4.21 (`server.ts`):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API server with Vite middleware &amp; static asset pipeline.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Sharp v0.35.5 (`sharp` / libvips):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High-speed C++ image buffer resizing, channel extraction &amp; mozjpeg encoding.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Satellite.js v7.1.0 (`satellite.js`):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SGP4/SDP4 orbital propagation from NORAD Two-Line Elements (TLE).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SunCalc v2.1.1 (`suncalc`):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Topocentric lunar/solar altitude, azimuth, parallactic angle &amp; limb illumination.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186928" y="1508760"/>
            <a:ext cx="3544824" cy="25146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4088" y="160020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AI, STORAGE &amp; AUDIO SYNTHESIS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324088" y="1965960"/>
            <a:ext cx="327050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Faithful Astro Restoration (`astroRestoration.ts`):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Wavelet/NLM denoise + Richardson-Lucy PSF deconvolution.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IndexedDB (`imageStore.ts`):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persistence for large base64 restored captures across reloads.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Observer Location (`observerLocation.ts`):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coordinates shared across Watchtower, Celestial Scroll &amp; Star Gazer.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Web Audio API (`soundEngine.ts`): </a:t>
            </a:r>
            <a:r>
              <a:rPr lang="en-US" sz="85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Zero-asset procedural Koto pluck &amp; Suzu shrine bell synthesis.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29456" y="2766060"/>
            <a:ext cx="26517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94320" y="2766060"/>
            <a:ext cx="26517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4160520"/>
            <a:ext cx="3544824" cy="2148840"/>
          </a:xfrm>
          <a:prstGeom prst="roundRect">
            <a:avLst>
              <a:gd name="adj" fmla="val 9362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94360" y="425196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ALGORITHM 1: NIGHT HONOR SCORE &amp; SGP4 PASSES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617720"/>
            <a:ext cx="327050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Night Honor Score: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100 - 0.6 x Cloud% - 0.25 x max(0, Humidity - 45) - 0.5 x (24 - Visibility km) - 2.5 x (Bortle - 1) - min(20, 0.1 x (AQI - 50)), clamped to 0-100.</a:t>
            </a:r>
            <a:endParaRPr lang="en-US" sz="8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SGP4 Visible Pass Filter (`issPasses.ts`):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Propagates NORAD 25544 over 5 days (15s scan, 2s refinement); keeps passes with max elevation &gt; 20 deg, satellite sunlit, and Sun altitude &lt; -6 deg.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322064" y="4160520"/>
            <a:ext cx="3544824" cy="2148840"/>
          </a:xfrm>
          <a:prstGeom prst="roundRect">
            <a:avLst>
              <a:gd name="adj" fmla="val 9362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459224" y="425196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ALGORITHM 2: RICHARDSON-LUCY &amp; CATALOGING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459224" y="4617720"/>
            <a:ext cx="327050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Iterative Deconvolution: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Damped update u^(t+1) = u^(t) * [ (I / (u^(t) * P)) * P^T ], 1-12 iterations set by the Deblur slider; P is a Gaussian PSF with sigma estimated from unsaturated stars.</a:t>
            </a:r>
            <a:endParaRPr lang="en-US" sz="8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DAOStarFinder / SEP Extraction: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Matched-filter segmentation above a local-background RMS threshold (3.2 sigma detect, 2 sigma segment); flux, magnitude, FWHM &amp; elongation classify Stars vs. Galaxies.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186928" y="4160520"/>
            <a:ext cx="3544824" cy="2148840"/>
          </a:xfrm>
          <a:prstGeom prst="roundRect">
            <a:avLst>
              <a:gd name="adj" fmla="val 9362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324088" y="425196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ALGORITHM 3: STELLARIUM SKY-VIEW MODEL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324088" y="4617720"/>
            <a:ext cx="327050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View State: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Observer lat/lng (4 decimals), UTC ISO date (Now, Tonight 22:00 or custom) and optional elevation are sent to Stellarium Web.</a:t>
            </a:r>
            <a:endParaRPr lang="en-US" sz="8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Orientation: </a:t>
            </a: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of view clamped to 10-120 deg (presets 120/90/60/30) plus azimuth &amp; altitude presets (e.g. South 180/30, East 90/25) for horizon-first viewing.</a:t>
            </a:r>
            <a:endParaRPr lang="en-US" sz="820" dirty="0"/>
          </a:p>
        </p:txBody>
      </p:sp>
      <p:pic>
        <p:nvPicPr>
          <p:cNvPr id="32" name="Picture 31" descr="Hand drawn hieroglyph translates samurai japanese samurai ...">
            <a:extLst>
              <a:ext uri="{FF2B5EF4-FFF2-40B4-BE49-F238E27FC236}">
                <a16:creationId xmlns:a16="http://schemas.microsoft.com/office/drawing/2014/main" id="{BBCA5C10-D929-C706-1096-1DEE81932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348" y="407050"/>
            <a:ext cx="670488" cy="461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TSUKUYOMI WATCH     /     FEASIBILITY &amp; RISK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9905695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Feasibility, viability, risk assessment &amp; mitigation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resource footprint, economic sustainability &amp; built-in multi-mirror fault tolerance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PECATHON 2026  •  OFFICIAL SUBMISSION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248095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月読見張   •   THE SAMURAI'S CELESTIAL GUIDE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544824" cy="2103120"/>
          </a:xfrm>
          <a:prstGeom prst="roundRect">
            <a:avLst>
              <a:gd name="adj" fmla="val 9565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160020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FEASIBILITY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1965960"/>
            <a:ext cx="327050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CPU-Native Deconvolution: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on standard Node.js + `sharp` (libvips) C++ bindings — requires ZERO expensive A100/H100 GPUs.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Proven Open Standards: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on SGP4 (`satellite.js`), USNO ephemeris, Open-Meteo JSON APIs &amp; Stellarium Web.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60s Server Watchdog: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`Promise.race` timeout in `/api/restore` prevents memory exhaustion on 25MB uploads.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322064" y="1508760"/>
            <a:ext cx="3544824" cy="2103120"/>
          </a:xfrm>
          <a:prstGeom prst="roundRect">
            <a:avLst>
              <a:gd name="adj" fmla="val 9565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59224" y="160020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VIABILITY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59224" y="1965960"/>
            <a:ext cx="327050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Zero Licensing / API Cost: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Weather, AQI, USNO Lunar, CelesTrak TLE, OSM Overpass &amp; Stellarium Web are 100% free public endpoints.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Lightweight Cloud Footprint: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Deploys on a single 512MB–1GB RAM container (Cloud Run / Render / Railway).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Client-Side Offloading: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D3 sky rendering, Stellarium sky rendering and IndexedDB image caching run entirely in the user's browser.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186928" y="1508760"/>
            <a:ext cx="3544824" cy="2103120"/>
          </a:xfrm>
          <a:prstGeom prst="roundRect">
            <a:avLst>
              <a:gd name="adj" fmla="val 9565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4088" y="160020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SCALABILITY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324088" y="1965960"/>
            <a:ext cx="327050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In-Memory TTL Caching: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cached 15m, AQI 30m, Spots 60m, ISS TLE 3h — slashes upstream API calls by &gt;95%.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Auto-Provisioned Sample Assets: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`ensureAstroSampleAssets()` downloads &amp; compresses NASA presets (&lt;1.5MB mozjpeg) on startup.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Offline-First Resilience: </a:t>
            </a:r>
            <a:r>
              <a:rPr lang="en-US" sz="88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Shivalik sanctuaries guarantee zero-latency map loads.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72160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RISK  /  FAILURE SCENARIO / BOTTLENECK  /  IMPLEMENTED MITIGATION IN CODEBASE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4023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RISK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4023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SCENARIO / BOTTLENECK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402336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MITIGATION IN CODEBASE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1127455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" y="42976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Upstream TLE / Ephemeris Outage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42976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CelesTrak or USNO API rate-limits or times out during live evaluation.</a:t>
            </a:r>
            <a:endParaRPr lang="en-US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6080760" y="4297680"/>
            <a:ext cx="5605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3-Tier TLE Failover (`wheretheiss.at` -&gt; `celestrak.org` -&gt; `ivanstanojevic.me`) + 7-day stale cache fallback; automatic `SunCalc` orbital fallback if USNO times out (3.8s).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57200" y="4828032"/>
            <a:ext cx="1127455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48280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Overpass GIS Mirror Timeout</a:t>
            </a:r>
            <a:endParaRPr lang="en-US" sz="880" dirty="0"/>
          </a:p>
        </p:txBody>
      </p:sp>
      <p:sp>
        <p:nvSpPr>
          <p:cNvPr id="32" name="Text 30"/>
          <p:cNvSpPr txBox="1"/>
          <p:nvPr/>
        </p:nvSpPr>
        <p:spPr>
          <a:xfrm>
            <a:off x="3108960" y="48280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OpenStreetMap Overpass servers drop queries under heavy traffic.</a:t>
            </a:r>
            <a:endParaRPr lang="en-US" sz="82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4828032"/>
            <a:ext cx="5605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multi-mirror retry (`overpass-api.de` -&gt; `kumi.systems` with 4.5s timeout) + instant fallback to 10 curated Chandigarh/Shivalik dark-sky sanctuaries (Morni Hills, Kasauli, Chail).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57200" y="5358384"/>
            <a:ext cx="1127455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53583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Heavy Image Deconvolution Lag</a:t>
            </a:r>
            <a:endParaRPr lang="en-US" sz="880" dirty="0"/>
          </a:p>
        </p:txBody>
      </p:sp>
      <p:sp>
        <p:nvSpPr>
          <p:cNvPr id="36" name="Text 34"/>
          <p:cNvSpPr txBox="1"/>
          <p:nvPr/>
        </p:nvSpPr>
        <p:spPr>
          <a:xfrm>
            <a:off x="3108960" y="53583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Uncompressed 25MB astrophotography upload stalls the Node event loop.</a:t>
            </a:r>
            <a:endParaRPr lang="en-US" sz="82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5358384"/>
            <a:ext cx="5605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Multer 25MB cap + Sharp auto-downscaling (1280px max dimension) + strict 60-second `RESTORE_SERVER_TIMEOUT_MS` watchdog returning graceful HTTP 504 advice.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57200" y="5888736"/>
            <a:ext cx="1127455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2920" y="58887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Stellarium Web Embed Blocked or Offline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3108960" y="588873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stellarium-web.org is unreachable, blocks framing or loads slowly in the user's browser.</a:t>
            </a:r>
            <a:endParaRPr lang="en-US" sz="820" dirty="0"/>
          </a:p>
        </p:txBody>
      </p:sp>
      <p:sp>
        <p:nvSpPr>
          <p:cNvPr id="41" name="Text 39"/>
          <p:cNvSpPr txBox="1"/>
          <p:nvPr/>
        </p:nvSpPr>
        <p:spPr>
          <a:xfrm>
            <a:off x="6080760" y="5888736"/>
            <a:ext cx="5605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Loading-spinner safety timeout + frame `onError` handler switch to Fallback Card View (coordinates, date &amp; FOV preserved) with a permanent external-launch link; all other modules are unaffected.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pic>
        <p:nvPicPr>
          <p:cNvPr id="43" name="Picture 42" descr="Hand drawn hieroglyph translates samurai japanese samurai ...">
            <a:extLst>
              <a:ext uri="{FF2B5EF4-FFF2-40B4-BE49-F238E27FC236}">
                <a16:creationId xmlns:a16="http://schemas.microsoft.com/office/drawing/2014/main" id="{7F9658F7-9D92-8422-12E9-9512EF722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968" y="425387"/>
            <a:ext cx="577449" cy="3975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TSUKUYOMI WATCH     /     IMPACT &amp; FUTURE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9905695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Impacts, multi-domain benefits &amp; future prospects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Tangible scientific, educational, environmental &amp; regional astro-tourism 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PECATHON 2026  •  OFFICIAL SUBMISSION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248095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月読見張   •   THE SAMURAI'S CELESTIAL GUIDE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544824" cy="25146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160020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SCIENTIFIC &amp; ASTROMETRIC IMPACT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1965960"/>
            <a:ext cx="327050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Preserves Photometric Integrity: </a:t>
            </a:r>
            <a:r>
              <a:rPr lang="en-US" sz="9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Eliminates generative AI hallucinations in amateur and student astrophotography.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Automated Source Cataloging: </a:t>
            </a:r>
            <a:r>
              <a:rPr lang="en-US" sz="9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Democratizes DAOStarFinder/SEP star &amp; galaxy flux/FWHM measurement in the browser.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Professional-Grade Ephemeris: </a:t>
            </a:r>
            <a:r>
              <a:rPr lang="en-US" sz="9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Bridges USNO/SGP4 telemetry with an intuitive visual interface.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53484" y="1458468"/>
            <a:ext cx="3544824" cy="25146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59224" y="160020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EDUCATIONAL &amp; CULTURAL IMPACT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59224" y="1965960"/>
            <a:ext cx="327050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Cross-Cultural Ethnoastronomy: </a:t>
            </a:r>
            <a:r>
              <a:rPr lang="en-US" sz="9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Preserves medieval Japanese star lore (`Hokuto Shichisei`, `Subaru`, `Tsuzumi-boshi`) alongside modern IAU coordinates.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Interactive STEM Lab: </a:t>
            </a:r>
            <a:r>
              <a:rPr lang="en-US" sz="9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learn Local Sidereal Time (LST), orbital inclination, PSF deconvolution and explore the live sky for any date &amp; place in Stellarium.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Gamified Citizen Science: </a:t>
            </a:r>
            <a:r>
              <a:rPr lang="en-US" sz="9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'Honor Points' (`/honor`) incentivize real-world sky observation.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86928" y="1508760"/>
            <a:ext cx="3544824" cy="25146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4088" y="160020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REGIONAL &amp; ENVIRONMENTAL IMPACT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324088" y="1965960"/>
            <a:ext cx="327050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Dark-Sky Conservation Awareness: </a:t>
            </a:r>
            <a:r>
              <a:rPr lang="en-US" sz="9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Visualizes urban AQI haze &amp; light pollution degradation on the celestial dome.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Himalayan Foothills Astro-Tourism: </a:t>
            </a:r>
            <a:r>
              <a:rPr lang="en-US" sz="9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Highlights regional dark-sky sanctuaries around Chandigarh, Himachal &amp; Haryana (Morni Hills, Kasauli, Chail, Siswan).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Accessible Stargazing: </a:t>
            </a:r>
            <a:r>
              <a:rPr lang="en-US" sz="9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WCAG Calm Mode supports neurodivergent &amp; night-adapted users.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99048" y="4050792"/>
            <a:ext cx="0" cy="18288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85623" y="4279393"/>
            <a:ext cx="11274552" cy="2057400"/>
          </a:xfrm>
          <a:prstGeom prst="roundRect">
            <a:avLst>
              <a:gd name="adj" fmla="val 9778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94360" y="4343400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FUTURE PROSPECTS &amp; BONUS CHALLENGE ROADMAP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709160"/>
            <a:ext cx="1100023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Live NASA SkyView Virtual Telescope Integration: </a:t>
            </a:r>
            <a:r>
              <a:rPr lang="en-US" sz="9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FITS/JPEG cutout streaming (`skyview.gsfc.nasa.gov`) into the Spirit Lens deconvolution pipeline for any RA/Dec coordinate.</a:t>
            </a:r>
            <a:endParaRPr lang="en-US" sz="9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Spectral &amp; Time-Domain Transient Detection: </a:t>
            </a:r>
            <a:r>
              <a:rPr lang="en-US" sz="9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Multi-epoch image blinking and difference imaging (ZTF/LSST style) to flag supernovae, variable stars, and near-Earth asteroids.</a:t>
            </a:r>
            <a:endParaRPr lang="en-US" sz="9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Hardware Telescope Mount Control (ASCOM / INDI WebSockets): </a:t>
            </a:r>
            <a:r>
              <a:rPr lang="en-US" sz="9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1-click 'Slew Katana Reticle to Target' from the sky view directly to motorized GoTo equatorial mounts.</a:t>
            </a:r>
            <a:endParaRPr lang="en-US" sz="9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Self-Hosted Stellarium Web Engine: </a:t>
            </a:r>
            <a:r>
              <a:rPr lang="en-US" sz="9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 the open-source engine with a Japanese sky-culture overlay for an offline, in-field planetarium.</a:t>
            </a:r>
            <a:endParaRPr lang="en-US" sz="9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2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Community Dark-Sky Sensor Mesh: </a:t>
            </a:r>
            <a:r>
              <a:rPr lang="en-US" sz="92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Crowd-sourced Sky Quality Meter (SQM) readings from Honor Point observers to build hyper-local Bortle light pollution maps across India.</a:t>
            </a:r>
            <a:endParaRPr lang="en-US" sz="920" dirty="0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E329D21E-CD05-9C31-5C2F-00793B5E8309}"/>
              </a:ext>
            </a:extLst>
          </p:cNvPr>
          <p:cNvSpPr/>
          <p:nvPr/>
        </p:nvSpPr>
        <p:spPr>
          <a:xfrm>
            <a:off x="4002024" y="2687214"/>
            <a:ext cx="207264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77E7A2AC-BA3A-C9EA-4AD4-2179A76AC904}"/>
              </a:ext>
            </a:extLst>
          </p:cNvPr>
          <p:cNvSpPr/>
          <p:nvPr/>
        </p:nvSpPr>
        <p:spPr>
          <a:xfrm>
            <a:off x="7866888" y="2766382"/>
            <a:ext cx="207264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pic>
        <p:nvPicPr>
          <p:cNvPr id="25" name="Picture 24" descr="Hand drawn hieroglyph translates samurai japanese samurai ...">
            <a:extLst>
              <a:ext uri="{FF2B5EF4-FFF2-40B4-BE49-F238E27FC236}">
                <a16:creationId xmlns:a16="http://schemas.microsoft.com/office/drawing/2014/main" id="{A1ED50D9-D2A4-D483-1FF0-607E3122F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54" y="360162"/>
            <a:ext cx="634676" cy="4369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9500" y="138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TSUKUYOMI WATCH     /     WORKING PROTOTYPE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069068" y="3392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7269" y="241621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MVP showcase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6085" y="7367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PS-002 modules + Star Gazer, gamification &amp; accessibility fully implemented in codebase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2101" y="2575249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PECATHON 2026  •  OFFICIAL SUBMISSION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248095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月読見張   •   THE SAMURAI'S CELESTIAL GUIDE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98928" y="2782950"/>
            <a:ext cx="3406551" cy="1612141"/>
          </a:xfrm>
          <a:prstGeom prst="roundRect">
            <a:avLst>
              <a:gd name="adj" fmla="val 88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74349" y="2907793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1: THE WATCHTOWER (`/watchtower`)</a:t>
            </a:r>
            <a:endParaRPr lang="en-US" sz="920" dirty="0"/>
          </a:p>
        </p:txBody>
      </p:sp>
      <p:sp>
        <p:nvSpPr>
          <p:cNvPr id="14" name="Text 12"/>
          <p:cNvSpPr txBox="1"/>
          <p:nvPr/>
        </p:nvSpPr>
        <p:spPr>
          <a:xfrm>
            <a:off x="254670" y="3210849"/>
            <a:ext cx="327050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Real-Time Weather &amp; AQI Fusion: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Fetches live Open-Meteo cloud cover, humidity, visibility, wind &amp; US AQI (`pm2_5`, `pm10`).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Parchment Scroll Leaflet Map: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sepia/katana-themed cartography displaying nearby peaks, shrines, and observatories.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Interactive D3 Celestial Dome (`CelestialMapWidget.tsx`):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Local Sidereal Time sky chart with 8+ constellations, star magnitudes &amp; AQI haze simulation.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258180" y="2807209"/>
            <a:ext cx="3572257" cy="1587882"/>
          </a:xfrm>
          <a:prstGeom prst="roundRect">
            <a:avLst>
              <a:gd name="adj" fmla="val 88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26719" y="2858899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2: THE CELESTIAL SCROLL (`/scroll`)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4370527" y="3233802"/>
            <a:ext cx="327050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Live ISS Pass Predictor (`/api/iss-passes`):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5-day visible pass table with max elevation, compass trajectory &amp; magnitude.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USNO + SunCalc Lunar Tracker (`/api/moon-phase`):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illumination fraction, bright limb angle, moonrise/set &amp; distance (km).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Traditional Lunar Calendar &amp; Horizon Alerts: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Filterable cosmic ledger (meteors, eclipses, launches) with 'View in sky' links into the Star Gazer.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205276" y="2889739"/>
            <a:ext cx="3447418" cy="1536192"/>
          </a:xfrm>
          <a:prstGeom prst="roundRect">
            <a:avLst>
              <a:gd name="adj" fmla="val 88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443764" y="2868232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8B74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MODULE 3: THE STAR GAZER (`/stargazer`)</a:t>
            </a:r>
            <a:endParaRPr lang="en-US" sz="920" dirty="0">
              <a:highlight>
                <a:srgbClr val="FFFF00"/>
              </a:highlight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293733" y="3127248"/>
            <a:ext cx="327050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</a:t>
            </a:r>
            <a:r>
              <a:rPr lang="en-US" sz="860" b="1" dirty="0">
                <a:solidFill>
                  <a:srgbClr val="121212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Live Stellarium Sky: </a:t>
            </a:r>
            <a:r>
              <a:rPr lang="en-US" sz="860" dirty="0">
                <a:solidFill>
                  <a:srgbClr val="414141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Embedded Stellarium Web planetarium at your coordinates with Now / Tonight 22:00 / custom date-time presets.</a:t>
            </a:r>
            <a:endParaRPr lang="en-US" sz="860" dirty="0">
              <a:highlight>
                <a:srgbClr val="FFFF00"/>
              </a:highlight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▫  Sky Controls: </a:t>
            </a:r>
            <a:r>
              <a:rPr lang="en-US" sz="860" dirty="0">
                <a:solidFill>
                  <a:srgbClr val="414141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Place search, GPS &amp; saved observer location, FOV presets (120/90/60/30 deg), South &amp; East horizon views and live lunar phase.</a:t>
            </a:r>
            <a:endParaRPr lang="en-US" sz="860" dirty="0">
              <a:highlight>
                <a:srgbClr val="FFFF00"/>
              </a:highlight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▫  Never-Stuck Fallback: </a:t>
            </a:r>
            <a:r>
              <a:rPr lang="en-US" sz="860" dirty="0">
                <a:solidFill>
                  <a:srgbClr val="414141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URL telemetry panel, Fallback Card View &amp; external launch if the embedded frame is blocked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22101" y="4645153"/>
            <a:ext cx="3574999" cy="1655064"/>
          </a:xfrm>
          <a:prstGeom prst="roundRect">
            <a:avLst>
              <a:gd name="adj" fmla="val 88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11172" y="4702350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8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4: THE SPIRIT LENS (`/lens`)</a:t>
            </a:r>
            <a:endParaRPr lang="en-US" sz="920" dirty="0"/>
          </a:p>
        </p:txBody>
      </p:sp>
      <p:sp>
        <p:nvSpPr>
          <p:cNvPr id="23" name="Text 21"/>
          <p:cNvSpPr txBox="1"/>
          <p:nvPr/>
        </p:nvSpPr>
        <p:spPr>
          <a:xfrm>
            <a:off x="361281" y="5023694"/>
            <a:ext cx="327050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Faithful Deconvolution Engine (`/api/restore`):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Adjustable Denoise &amp; Deblur strength sliders processing uploads or NASA Hubble/JWST presets.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Zero Fake Details: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Preserves true photometric structure via Wavelet/NLM + Richardson-Lucy PSF restoration.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Automated Star &amp; Galaxy Detection: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Extracts source centroids, brightness/flux, FWHM size &amp; classification counts.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4294632" y="4626864"/>
            <a:ext cx="3572256" cy="1682496"/>
          </a:xfrm>
          <a:prstGeom prst="roundRect">
            <a:avLst>
              <a:gd name="adj" fmla="val 88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01896" y="4626864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DC9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5: DOJO DASHBOARD (`/dojo`)</a:t>
            </a:r>
            <a:endParaRPr lang="en-US" sz="920" dirty="0"/>
          </a:p>
        </p:txBody>
      </p:sp>
      <p:sp>
        <p:nvSpPr>
          <p:cNvPr id="26" name="Text 24"/>
          <p:cNvSpPr txBox="1"/>
          <p:nvPr/>
        </p:nvSpPr>
        <p:spPr>
          <a:xfrm>
            <a:off x="4596384" y="4974336"/>
            <a:ext cx="327050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Interactive Before/After Split Slider: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Pixel-aligned comparison between raw noisy capture and restored output.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Deep Zoom &amp; Astrometric Overlays: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Toggleable bounding reticles and telemetry tooltips for every detected star/galaxy.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Faithfulness Metrics: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Flux-conservation, object-count and noise-sigma before/after readouts for each restoration.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35696" y="4581144"/>
            <a:ext cx="3496056" cy="1728216"/>
          </a:xfrm>
          <a:prstGeom prst="roundRect">
            <a:avLst>
              <a:gd name="adj" fmla="val 880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433816" y="4590289"/>
            <a:ext cx="3270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BONUS: HONOR POINTS &amp; CALM MODE (`/honor`)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8372551" y="4919472"/>
            <a:ext cx="327050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Gamified Ranks: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Ashigaru, Samurai (500), Daimyo (1,500) and Shogun (3,000) Honor Points.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Earn by Observing: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 for events observed, alerts set, top spots visited, images restored &amp; Star Gazer nights (+100 per day).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Calm Mode &amp; Audio: </a:t>
            </a: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WCAG Calm Mode, IndexedDB persistence &amp; Koto/Suzu audio.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3736848" y="3551464"/>
            <a:ext cx="26517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894320" y="3551464"/>
            <a:ext cx="26517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029456" y="5166360"/>
            <a:ext cx="26517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894320" y="5166360"/>
            <a:ext cx="265176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  <a:tailEnd type="triangle"/>
          </a:ln>
        </p:spPr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827DBC9-804E-031B-0068-127E7CF16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315" y="32017"/>
            <a:ext cx="4814454" cy="2473117"/>
          </a:xfrm>
          <a:prstGeom prst="rect">
            <a:avLst/>
          </a:prstGeom>
        </p:spPr>
      </p:pic>
      <p:pic>
        <p:nvPicPr>
          <p:cNvPr id="39" name="Picture 38" descr="Hand drawn hieroglyph translates samurai japanese samurai ...">
            <a:extLst>
              <a:ext uri="{FF2B5EF4-FFF2-40B4-BE49-F238E27FC236}">
                <a16:creationId xmlns:a16="http://schemas.microsoft.com/office/drawing/2014/main" id="{B833308A-6DAB-6FE1-5F2B-2893D3F94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6317" y="217643"/>
            <a:ext cx="555902" cy="382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TSUKUYOMI WATCH     /     RESEARCH &amp; REFERENCES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9905695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/  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0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Peer-reviewed references &amp; data sources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Ethical, verifiable scientific foundations validating our deconvolution, photometry, orbital mechanics &amp; sky simulation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22225">
            <a:solidFill>
              <a:srgbClr val="1212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PECATHON 2026  •  OFFICIAL SUBMISSION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248095" y="64648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月読見張   •   THE SAMURAI'S CELESTIAL GUIDE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11274552" cy="2423160"/>
          </a:xfrm>
          <a:prstGeom prst="roundRect">
            <a:avLst>
              <a:gd name="adj" fmla="val 8302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1600200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PEER-REVIEWED SCIENTIFIC PAPERS (WITH VERIFIED DOIs)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1965960"/>
            <a:ext cx="1100023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Richardson, W. H. (1972). 'Bayesian-Based Iterative Method of Image Restoration.' Journal of the Optical Society of America, 62(1), 55–59. DOI: 10.1364/JOSA.62.000055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Lucy, L. B. (1974). 'An iterative technique for the rectification of observed distributions.' The Astronomical Journal, 79(6), 745–754. DOI: 10.1086/111605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Stetson, P. B. (1987). 'DAOPHOT: A Computer Program for Crowded-Field Stellar Photometry.' Publications of the Astronomical Society of the Pacific, 99, 191–222. DOI: 10.1086/131977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Bertin, E., &amp; Arnouts, S. (1996). 'SExtractor: Software for source extraction.' Astronomy and Astrophysics Supplement Series, 117(2), 393–404. DOI: 10.1051/aas:1996164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Buades, A., Coll, B., &amp; Morel, J.-M. (2005). 'A Non-Local Algorithm for Image Denoising.' IEEE CVPR, Vol. 2, pp. 60–65. DOI: 10.1109/CVPR.2005.38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Vallado, D. A., Crawford, P., Hujsak, R., &amp; Kelso, T. S. (2006). 'Revisiting Spacetrack Report #3 (SGP4).' AIAA/AAS Astrodynamics Specialist Conference. DOI: 10.2514/6.2006-6753</a:t>
            </a:r>
            <a:endParaRPr lang="en-US" sz="8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6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Zotti, G., Hoffmann, S. M., Wolf, A., Chéreau, F., &amp; Chéreau, G. (2021). 'The Simulated Sky: Stellarium for Cultural Astronomy Research.' Journal of Skyscape Archaeology, 6(2), 221–258. DOI: 10.1558/jsa.17822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6949440" cy="2240280"/>
          </a:xfrm>
          <a:prstGeom prst="roundRect">
            <a:avLst>
              <a:gd name="adj" fmla="val 898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416052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APIs &amp; EPHEMERIS DATA SOURCES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526280"/>
            <a:ext cx="667512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3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US Naval Observatory (USNO) Astronomical Applications API: </a:t>
            </a:r>
            <a:r>
              <a:rPr lang="en-US" sz="83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https://aa.usno.navy.mil/api/rstt/oneday &amp; /moon/phases/date</a:t>
            </a:r>
            <a:endParaRPr lang="en-US" sz="83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3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NORAD / CelesTrak GP TLE Ephemeris (CATNR 25544): </a:t>
            </a:r>
            <a:r>
              <a:rPr lang="en-US" sz="83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https://celestrak.org/NORAD/elements/gp.php?CATNR=25544</a:t>
            </a:r>
            <a:endParaRPr lang="en-US" sz="83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3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WhereTheISS.at &amp; IvanStanojevic TLE Mirrors: </a:t>
            </a:r>
            <a:r>
              <a:rPr lang="en-US" sz="83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https://api.wheretheiss.at/v1/satellites/25544/tles</a:t>
            </a:r>
            <a:endParaRPr lang="en-US" sz="83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3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Open-Meteo Weather &amp; Air Quality APIs: </a:t>
            </a:r>
            <a:r>
              <a:rPr lang="en-US" sz="83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https://api.open-meteo.com/v1/forecast &amp; air-quality-api.open-meteo.com</a:t>
            </a:r>
            <a:endParaRPr lang="en-US" sz="83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3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OpenStreetMap Overpass &amp; Nominatim GIS: </a:t>
            </a:r>
            <a:r>
              <a:rPr lang="en-US" sz="83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https://overpass-api.de/api/interpreter</a:t>
            </a:r>
            <a:endParaRPr lang="en-US" sz="83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3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Stellarium Web (embedded sky viewer): </a:t>
            </a:r>
            <a:r>
              <a:rPr lang="en-US" sz="83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https://stellarium-web.org (query parameters lat, lng, date, fov, elev, az, alt)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7726680" y="4069080"/>
            <a:ext cx="4005072" cy="2240280"/>
          </a:xfrm>
          <a:prstGeom prst="roundRect">
            <a:avLst>
              <a:gd name="adj" fmla="val 898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863840" y="416052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7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OBSERVATIONAL ARCHIVES &amp; CULTURAL REFERENCES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526280"/>
            <a:ext cx="37307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3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NASA / ESA / STScI Hubble &amp; JWST Public Archive: </a:t>
            </a:r>
            <a:r>
              <a:rPr lang="en-US" sz="83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Pillars of Creation (GSFC_20171208), Carina Nebula, Andromeda M31 (PIA04921) — https://images.nasa.gov</a:t>
            </a:r>
            <a:endParaRPr lang="en-US" sz="83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3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Renshaw, S., &amp; Ihara, S. (1999). 'Archaeoastronomy and Ethnoastronomy in Japan (Subaru, Hokuto Shichisei, Tsuzumi-boshi).' Journal of Astronomical History and Heritage.</a:t>
            </a:r>
            <a:endParaRPr lang="en-US" sz="83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3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▫  Shivalik / Chandigarh Dark-Sky Topographic Survey: </a:t>
            </a:r>
            <a:r>
              <a:rPr lang="en-US" sz="830" dirty="0">
                <a:solidFill>
                  <a:srgbClr val="414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 Hills (1220m), Kasauli (1927m), Chail (2250m), Siswan Dam (390m).</a:t>
            </a:r>
            <a:endParaRPr lang="en-US" sz="830" dirty="0"/>
          </a:p>
        </p:txBody>
      </p:sp>
      <p:pic>
        <p:nvPicPr>
          <p:cNvPr id="21" name="Picture 20" descr="Hand drawn hieroglyph translates samurai japanese samurai ...">
            <a:extLst>
              <a:ext uri="{FF2B5EF4-FFF2-40B4-BE49-F238E27FC236}">
                <a16:creationId xmlns:a16="http://schemas.microsoft.com/office/drawing/2014/main" id="{452CD3AF-0FDD-0241-BC58-B56E88BAE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7792" y="411480"/>
            <a:ext cx="673600" cy="4637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3716</Words>
  <Application>Microsoft Office PowerPoint</Application>
  <PresentationFormat>Widescreen</PresentationFormat>
  <Paragraphs>260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Yu Gothic</vt:lpstr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Tsukuyomi Watch — Final Submission Deck</dc:title>
  <dc:subject>PptxGenJS Presentation</dc:subject>
  <dc:creator>The roadsters</dc:creator>
  <cp:lastModifiedBy>RAJ SINGH</cp:lastModifiedBy>
  <cp:revision>5</cp:revision>
  <dcterms:created xsi:type="dcterms:W3CDTF">2026-10-30T00:43:10Z</dcterms:created>
  <dcterms:modified xsi:type="dcterms:W3CDTF">2026-10-30T02:11:24Z</dcterms:modified>
</cp:coreProperties>
</file>